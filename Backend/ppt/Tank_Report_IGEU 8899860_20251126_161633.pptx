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0" y="18288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2400">
                <a:solidFill>
                  <a:srgbClr val="003366"/>
                </a:solidFill>
              </a:defRPr>
            </a:pPr>
            <a:r>
              <a:t>Smart-Gas Pte Ltd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548640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000000"/>
                </a:solidFill>
              </a:defRPr>
            </a:pPr>
            <a:r>
              <a:t>140 Paya Lebar Road #05-21, AZ Building, Singapore 409015</a:t>
            </a:r>
            <a:br/>
            <a:r>
              <a:t>Tel : (65) 6848 1040 / Fax : (65) 6848 2173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600">
                <a:solidFill>
                  <a:srgbClr val="003366"/>
                </a:solidFill>
              </a:defRPr>
            </a:pPr>
            <a:r>
              <a:t>IGEU 8899860 - General Identity &amp; Weights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1371600" y="1645920"/>
          <a:ext cx="6400800" cy="3017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4114800"/>
              </a:tblGrid>
              <a:tr h="274320">
                <a:tc>
                  <a:txBody>
                    <a:bodyPr/>
                    <a:lstStyle/>
                    <a:p>
                      <a:pPr>
                        <a:defRPr b="1" sz="1200"/>
                      </a:pPr>
                      <a:r>
                        <a:t>Tank Number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IGEU 8899860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b="1" sz="1200"/>
                      </a:pPr>
                      <a:r>
                        <a:t>Manufacturer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Unviersal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b="1" sz="1200"/>
                      </a:pPr>
                      <a:r>
                        <a:t>Date of Mfg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19-Nov-2025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b="1" sz="1200"/>
                      </a:pPr>
                      <a:r>
                        <a:t>Lease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No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b="1" sz="1200"/>
                      </a:pPr>
                      <a:r>
                        <a:t>UN ISO Code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T11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b="1" sz="1200"/>
                      </a:pPr>
                      <a:r>
                        <a:t>Size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20'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b="1" sz="1200"/>
                      </a:pPr>
                      <a:r>
                        <a:t>Tare Weight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12,000 kg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b="1" sz="1200"/>
                      </a:pPr>
                      <a:r>
                        <a:t>Gross Weight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4,850 kg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b="1" sz="1200"/>
                      </a:pPr>
                      <a:r>
                        <a:t>Net Weight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4,200 kg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b="1" sz="1200"/>
                      </a:pPr>
                      <a:r>
                        <a:t>MGW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10,000 kg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b="1" sz="1200"/>
                      </a:pPr>
                      <a:r>
                        <a:t>MPL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12,346 kg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0" y="18288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2400">
                <a:solidFill>
                  <a:srgbClr val="003366"/>
                </a:solidFill>
              </a:defRPr>
            </a:pPr>
            <a:r>
              <a:t>Smart-Gas Pte Ltd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548640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000000"/>
                </a:solidFill>
              </a:defRPr>
            </a:pPr>
            <a:r>
              <a:t>140 Paya Lebar Road #05-21, AZ Building, Singapore 409015</a:t>
            </a:r>
            <a:br/>
            <a:r>
              <a:t>Tel : (65) 6848 1040 / Fax : (65) 6848 2173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600">
                <a:solidFill>
                  <a:srgbClr val="003366"/>
                </a:solidFill>
              </a:defRPr>
            </a:pPr>
            <a:r>
              <a:t>IGEU 8899860 - Technical Specifications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1371600" y="1645920"/>
          <a:ext cx="6400800" cy="164591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4114800"/>
              </a:tblGrid>
              <a:tr h="274319">
                <a:tc>
                  <a:txBody>
                    <a:bodyPr/>
                    <a:lstStyle/>
                    <a:p>
                      <a:pPr>
                        <a:defRPr b="1" sz="1200"/>
                      </a:pPr>
                      <a:r>
                        <a:t>Capacity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25,000 L</a:t>
                      </a:r>
                    </a:p>
                  </a:txBody>
                  <a:tcPr/>
                </a:tc>
              </a:tr>
              <a:tr h="274319">
                <a:tc>
                  <a:txBody>
                    <a:bodyPr/>
                    <a:lstStyle/>
                    <a:p>
                      <a:pPr>
                        <a:defRPr b="1" sz="1200"/>
                      </a:pPr>
                      <a:r>
                        <a:t>MAWP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11 Bar</a:t>
                      </a:r>
                    </a:p>
                  </a:txBody>
                  <a:tcPr/>
                </a:tc>
              </a:tr>
              <a:tr h="274319">
                <a:tc>
                  <a:txBody>
                    <a:bodyPr/>
                    <a:lstStyle/>
                    <a:p>
                      <a:pPr>
                        <a:defRPr b="1" sz="1200"/>
                      </a:pPr>
                      <a:r>
                        <a:t>Working Pressure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100 Bar</a:t>
                      </a:r>
                    </a:p>
                  </a:txBody>
                  <a:tcPr/>
                </a:tc>
              </a:tr>
              <a:tr h="274319">
                <a:tc>
                  <a:txBody>
                    <a:bodyPr/>
                    <a:lstStyle/>
                    <a:p>
                      <a:pPr>
                        <a:defRPr b="1" sz="1200"/>
                      </a:pPr>
                      <a:r>
                        <a:t>Design Temp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-196°C to 50°C</a:t>
                      </a:r>
                    </a:p>
                  </a:txBody>
                  <a:tcPr/>
                </a:tc>
              </a:tr>
              <a:tr h="274319">
                <a:tc>
                  <a:txBody>
                    <a:bodyPr/>
                    <a:lstStyle/>
                    <a:p>
                      <a:pPr>
                        <a:defRPr b="1" sz="1200"/>
                      </a:pPr>
                      <a:r>
                        <a:t>Vessel Material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Carbon Steel SA-516 Gr. 70</a:t>
                      </a:r>
                    </a:p>
                  </a:txBody>
                  <a:tcPr/>
                </a:tc>
              </a:tr>
              <a:tr h="274324">
                <a:tc>
                  <a:txBody>
                    <a:bodyPr/>
                    <a:lstStyle/>
                    <a:p>
                      <a:pPr>
                        <a:defRPr b="1" sz="1200"/>
                      </a:pPr>
                      <a:r>
                        <a:t>PV Code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GB150 / IMDF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0" y="18288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2400">
                <a:solidFill>
                  <a:srgbClr val="003366"/>
                </a:solidFill>
              </a:defRPr>
            </a:pPr>
            <a:r>
              <a:t>Smart-Gas Pte Ltd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548640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000000"/>
                </a:solidFill>
              </a:defRPr>
            </a:pPr>
            <a:r>
              <a:t>140 Paya Lebar Road #05-21, AZ Building, Singapore 409015</a:t>
            </a:r>
            <a:br/>
            <a:r>
              <a:t>Tel : (65) 6848 1040 / Fax : (65) 6848 2173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600">
                <a:solidFill>
                  <a:srgbClr val="003366"/>
                </a:solidFill>
              </a:defRPr>
            </a:pPr>
            <a:r>
              <a:t>IGEU 8899860 - Construction Details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1371600" y="1645920"/>
          <a:ext cx="6400800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4114800"/>
              </a:tblGrid>
              <a:tr h="274320">
                <a:tc>
                  <a:txBody>
                    <a:bodyPr/>
                    <a:lstStyle/>
                    <a:p>
                      <a:pPr>
                        <a:defRPr b="1" sz="1200"/>
                      </a:pPr>
                      <a:r>
                        <a:t>Frame Type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normal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b="1" sz="1200"/>
                      </a:pPr>
                      <a:r>
                        <a:t>Cabinet Type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yes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b="1" sz="1200"/>
                      </a:pPr>
                      <a:r>
                        <a:t>Color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Safety Yellow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b="1" sz="1200"/>
                      </a:pPr>
                      <a:r>
                        <a:t>Pump Type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Yes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b="1" sz="1200"/>
                      </a:pPr>
                      <a:r>
                        <a:t>Remarks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Outlet valve requires inspection during next service. Fitted with pressure relief device P RD-456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0" y="18288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2400">
                <a:solidFill>
                  <a:srgbClr val="003366"/>
                </a:solidFill>
              </a:defRPr>
            </a:pPr>
            <a:r>
              <a:t>Smart-Gas Pte Ltd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548640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000000"/>
                </a:solidFill>
              </a:defRPr>
            </a:pPr>
            <a:r>
              <a:t>140 Paya Lebar Road #05-21, AZ Building, Singapore 409015</a:t>
            </a:r>
            <a:br/>
            <a:r>
              <a:t>Tel : (65) 6848 1040 / Fax : (65) 6848 2173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600">
                <a:solidFill>
                  <a:srgbClr val="003366"/>
                </a:solidFill>
              </a:defRPr>
            </a:pPr>
            <a:r>
              <a:t>IGEU 8899860 - Certificates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645920"/>
          <a:ext cx="8229600" cy="548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2057400"/>
                <a:gridCol w="2057400"/>
                <a:gridCol w="2057400"/>
              </a:tblGrid>
              <a:tr h="274320"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Cert No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Agency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Insp Date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Next Due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123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BV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16-Nov-2025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09-Nov-2025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0" y="18288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2400">
                <a:solidFill>
                  <a:srgbClr val="003366"/>
                </a:solidFill>
              </a:defRPr>
            </a:pPr>
            <a:r>
              <a:t>Smart-Gas Pte Ltd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548640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000000"/>
                </a:solidFill>
              </a:defRPr>
            </a:pPr>
            <a:r>
              <a:t>140 Paya Lebar Road #05-21, AZ Building, Singapore 409015</a:t>
            </a:r>
            <a:br/>
            <a:r>
              <a:t>Tel : (65) 6848 1040 / Fax : (65) 6848 2173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600">
                <a:solidFill>
                  <a:srgbClr val="003366"/>
                </a:solidFill>
              </a:defRPr>
            </a:pPr>
            <a:r>
              <a:t>IGEU 8899860 - Certificate Documents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46304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200"/>
            </a:pPr>
            <a:r>
              <a:t>Cert: 123</a:t>
            </a:r>
          </a:p>
        </p:txBody>
      </p:sp>
      <p:pic>
        <p:nvPicPr>
          <p:cNvPr id="7" name="Picture 6" descr="IGEU 8899860_certificate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645920"/>
            <a:ext cx="3215811" cy="2286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0" y="18288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2400">
                <a:solidFill>
                  <a:srgbClr val="003366"/>
                </a:solidFill>
              </a:defRPr>
            </a:pPr>
            <a:r>
              <a:t>Smart-Gas Pte Ltd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548640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000000"/>
                </a:solidFill>
              </a:defRPr>
            </a:pPr>
            <a:r>
              <a:t>140 Paya Lebar Road #05-21, AZ Building, Singapore 409015</a:t>
            </a:r>
            <a:br/>
            <a:r>
              <a:t>Tel : (65) 6848 1040 / Fax : (65) 6848 2173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600">
                <a:solidFill>
                  <a:srgbClr val="003366"/>
                </a:solidFill>
              </a:defRPr>
            </a:pPr>
            <a:r>
              <a:t>IGEU 8899860 - Technical Drawings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46304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200"/>
            </a:pPr>
            <a:r>
              <a:t>Drawing: PFD (Process Flow Diagram)</a:t>
            </a:r>
          </a:p>
        </p:txBody>
      </p:sp>
      <p:pic>
        <p:nvPicPr>
          <p:cNvPr id="7" name="Picture 6" descr="IGEU 8899860_certificate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645920"/>
            <a:ext cx="3215811" cy="2286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0" y="18288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2400">
                <a:solidFill>
                  <a:srgbClr val="003366"/>
                </a:solidFill>
              </a:defRPr>
            </a:pPr>
            <a:r>
              <a:t>Smart-Gas Pte Ltd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548640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000000"/>
                </a:solidFill>
              </a:defRPr>
            </a:pPr>
            <a:r>
              <a:t>140 Paya Lebar Road #05-21, AZ Building, Singapore 409015</a:t>
            </a:r>
            <a:br/>
            <a:r>
              <a:t>Tel : (65) 6848 1040 / Fax : (65) 6848 2173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600">
                <a:solidFill>
                  <a:srgbClr val="003366"/>
                </a:solidFill>
              </a:defRPr>
            </a:pPr>
            <a:r>
              <a:t>IGEU 8899860 - Valve Test Documents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46304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200"/>
            </a:pPr>
            <a:r>
              <a:t>Report: 17-Nov-2025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645920"/>
            <a:ext cx="3657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>
                <a:solidFill>
                  <a:srgbClr val="000000"/>
                </a:solidFill>
              </a:defRPr>
            </a:pPr>
            <a:r>
              <a:t>[PDF/Doc: IGEU 8899860_valve_reports.webp]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